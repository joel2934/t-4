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1C243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/icon_robo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82661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CAPSTONE  ·  AGENTIC AI &amp; RAG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Interview Prep Bot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9776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 mock-interview system that pairs a staged LangGraph agent with retrieval-augmented question selection, LLM-based rubric grading, and full LangSmith observability.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5623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40080" y="6144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stages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429000" y="5623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429000" y="6144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question retrieval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17920" y="5623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217920" y="6144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engines (LLM + fallback)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from the learner's point of view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160520" cy="4617720"/>
          </a:xfrm>
          <a:prstGeom prst="roundRect">
            <a:avLst>
              <a:gd name="adj" fmla="val 2637"/>
            </a:avLst>
          </a:prstGeom>
          <a:solidFill>
            <a:srgbClr val="1C243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/icon_persona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0043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38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83080" y="2212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job-seeker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“I've done generic mock interviews before — they ask random questions, never adjust to how I'm doing, and I get zero memory of what I'm actually weak at from one session to the next.”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8680" y="5074920"/>
            <a:ext cx="457200" cy="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2578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realistic questions, honest feedback tied to a rubric, and difficulty that adapts to skill.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937760" y="15087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6636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ppt/icon_pa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85623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2377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adaptive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166360" y="27432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question sets don't respond to how well the learner is actually performing turn to turn.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595360" y="15087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82396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/home/claude/ppt/icon_p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1856232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23960" y="2377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Shallow feedback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823960" y="27432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or keyword checks don't explain what's missing from an answer against a real rubric.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937760" y="3886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166360" y="4114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/home/claude/ppt/icon_pai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4233672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66360" y="4754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memory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166360" y="5120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 identified in one session are forgotten by the next — no cross-session tracking.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595360" y="3886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823960" y="4114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4" descr="/home/claude/ppt/icon_pai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2" y="4233672"/>
            <a:ext cx="265176" cy="26517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823960" y="4754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One-size questions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8823960" y="5120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fixed bank can't target a learner's track, role goal, or current stage of practice.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Interview Prep Bot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Data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layers: client, API, agent orchestration, and persistence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88720" cy="1234440"/>
          </a:xfrm>
          <a:prstGeom prst="roundRect">
            <a:avLst>
              <a:gd name="adj" fmla="val 6154"/>
            </a:avLst>
          </a:prstGeom>
          <a:solidFill>
            <a:srgbClr val="1C243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417320"/>
            <a:ext cx="1097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2880360"/>
            <a:ext cx="1188720" cy="1965960"/>
          </a:xfrm>
          <a:prstGeom prst="roundRect">
            <a:avLst>
              <a:gd name="adj" fmla="val 6154"/>
            </a:avLst>
          </a:prstGeom>
          <a:solidFill>
            <a:srgbClr val="1C243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880360"/>
            <a:ext cx="10972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AGENT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5074920"/>
            <a:ext cx="1188720" cy="1234440"/>
          </a:xfrm>
          <a:prstGeom prst="roundRect">
            <a:avLst>
              <a:gd name="adj" fmla="val 6154"/>
            </a:avLst>
          </a:prstGeom>
          <a:solidFill>
            <a:srgbClr val="1C243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5074920"/>
            <a:ext cx="1097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141A24"/>
          </a:solidFill>
          <a:ln w="19050">
            <a:solidFill>
              <a:srgbClr val="2FB8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1600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0" descr="/home/claude/ppt/icon_dashbo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688" y="1709928"/>
            <a:ext cx="283464" cy="2834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606040" y="157276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Precision Dashboard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60604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Vanilla JS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96596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submit answer (POST)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 rot="5400000">
            <a:off x="2880360" y="2651760"/>
            <a:ext cx="502920" cy="228600"/>
          </a:xfrm>
          <a:prstGeom prst="rightArrow">
            <a:avLst/>
          </a:prstGeom>
          <a:solidFill>
            <a:srgbClr val="2FB8C7"/>
          </a:solidFill>
          <a:ln/>
        </p:spPr>
      </p:sp>
      <p:sp>
        <p:nvSpPr>
          <p:cNvPr id="17" name="Shape 14"/>
          <p:cNvSpPr/>
          <p:nvPr/>
        </p:nvSpPr>
        <p:spPr>
          <a:xfrm>
            <a:off x="1783080" y="2880360"/>
            <a:ext cx="8046720" cy="1965960"/>
          </a:xfrm>
          <a:prstGeom prst="roundRect">
            <a:avLst>
              <a:gd name="adj" fmla="val 4651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65960" y="30358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1" descr="/home/claude/ppt/icon_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3136392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1460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  —  /api/interviews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1965960" y="361188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1C2430"/>
          </a:solidFill>
          <a:ln/>
        </p:spPr>
      </p:sp>
      <p:sp>
        <p:nvSpPr>
          <p:cNvPr id="22" name="Text 18"/>
          <p:cNvSpPr/>
          <p:nvPr/>
        </p:nvSpPr>
        <p:spPr>
          <a:xfrm>
            <a:off x="1965960" y="3611880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456432" y="3840480"/>
            <a:ext cx="109728" cy="109728"/>
          </a:xfrm>
          <a:prstGeom prst="rightArrow">
            <a:avLst/>
          </a:prstGeom>
          <a:solidFill>
            <a:srgbClr val="F2994A"/>
          </a:solidFill>
          <a:ln/>
        </p:spPr>
      </p:sp>
      <p:sp>
        <p:nvSpPr>
          <p:cNvPr id="24" name="Shape 20"/>
          <p:cNvSpPr/>
          <p:nvPr/>
        </p:nvSpPr>
        <p:spPr>
          <a:xfrm>
            <a:off x="3575304" y="361188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1C2430"/>
          </a:solidFill>
          <a:ln/>
        </p:spPr>
      </p:sp>
      <p:sp>
        <p:nvSpPr>
          <p:cNvPr id="25" name="Text 21"/>
          <p:cNvSpPr/>
          <p:nvPr/>
        </p:nvSpPr>
        <p:spPr>
          <a:xfrm>
            <a:off x="3575304" y="3611880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065776" y="3840480"/>
            <a:ext cx="109728" cy="109728"/>
          </a:xfrm>
          <a:prstGeom prst="rightArrow">
            <a:avLst/>
          </a:prstGeom>
          <a:solidFill>
            <a:srgbClr val="F2994A"/>
          </a:solidFill>
          <a:ln/>
        </p:spPr>
      </p:sp>
      <p:sp>
        <p:nvSpPr>
          <p:cNvPr id="27" name="Shape 23"/>
          <p:cNvSpPr/>
          <p:nvPr/>
        </p:nvSpPr>
        <p:spPr>
          <a:xfrm>
            <a:off x="5184648" y="361188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1C2430"/>
          </a:solidFill>
          <a:ln/>
        </p:spPr>
      </p:sp>
      <p:sp>
        <p:nvSpPr>
          <p:cNvPr id="28" name="Text 24"/>
          <p:cNvSpPr/>
          <p:nvPr/>
        </p:nvSpPr>
        <p:spPr>
          <a:xfrm>
            <a:off x="5184648" y="3611880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675120" y="3840480"/>
            <a:ext cx="109728" cy="109728"/>
          </a:xfrm>
          <a:prstGeom prst="rightArrow">
            <a:avLst/>
          </a:prstGeom>
          <a:solidFill>
            <a:srgbClr val="F2994A"/>
          </a:solidFill>
          <a:ln/>
        </p:spPr>
      </p:sp>
      <p:sp>
        <p:nvSpPr>
          <p:cNvPr id="30" name="Shape 26"/>
          <p:cNvSpPr/>
          <p:nvPr/>
        </p:nvSpPr>
        <p:spPr>
          <a:xfrm>
            <a:off x="6793992" y="361188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1C2430"/>
          </a:solidFill>
          <a:ln/>
        </p:spPr>
      </p:sp>
      <p:sp>
        <p:nvSpPr>
          <p:cNvPr id="31" name="Text 27"/>
          <p:cNvSpPr/>
          <p:nvPr/>
        </p:nvSpPr>
        <p:spPr>
          <a:xfrm>
            <a:off x="6793992" y="3611880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8284464" y="3840480"/>
            <a:ext cx="109728" cy="109728"/>
          </a:xfrm>
          <a:prstGeom prst="rightArrow">
            <a:avLst/>
          </a:prstGeom>
          <a:solidFill>
            <a:srgbClr val="F2994A"/>
          </a:solidFill>
          <a:ln/>
        </p:spPr>
      </p:sp>
      <p:sp>
        <p:nvSpPr>
          <p:cNvPr id="33" name="Shape 29"/>
          <p:cNvSpPr/>
          <p:nvPr/>
        </p:nvSpPr>
        <p:spPr>
          <a:xfrm>
            <a:off x="8403336" y="361188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1C2430"/>
          </a:solidFill>
          <a:ln/>
        </p:spPr>
      </p:sp>
      <p:sp>
        <p:nvSpPr>
          <p:cNvPr id="34" name="Text 30"/>
          <p:cNvSpPr/>
          <p:nvPr/>
        </p:nvSpPr>
        <p:spPr>
          <a:xfrm>
            <a:off x="8403336" y="3611880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1965960" y="427939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LangGraph StateGraph — explicit stage sequencing with score, memory &amp; difficulty transitions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8001000" y="2999232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2994A"/>
          </a:solidFill>
          <a:ln/>
        </p:spPr>
      </p:sp>
      <p:sp>
        <p:nvSpPr>
          <p:cNvPr id="37" name="Text 33"/>
          <p:cNvSpPr/>
          <p:nvPr/>
        </p:nvSpPr>
        <p:spPr>
          <a:xfrm>
            <a:off x="8001000" y="299923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Evaluator
</a:t>
            </a:r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D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· gpt-4o-mini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 rot="5400000">
            <a:off x="2880360" y="4864608"/>
            <a:ext cx="502920" cy="228600"/>
          </a:xfrm>
          <a:prstGeom prst="rightArrow">
            <a:avLst/>
          </a:prstGeom>
          <a:solidFill>
            <a:srgbClr val="2FB8C7"/>
          </a:solidFill>
          <a:ln/>
        </p:spPr>
      </p:sp>
      <p:sp>
        <p:nvSpPr>
          <p:cNvPr id="39" name="Shape 35"/>
          <p:cNvSpPr/>
          <p:nvPr/>
        </p:nvSpPr>
        <p:spPr>
          <a:xfrm rot="5400000">
            <a:off x="7680960" y="4864608"/>
            <a:ext cx="502920" cy="228600"/>
          </a:xfrm>
          <a:prstGeom prst="rightArrow">
            <a:avLst/>
          </a:prstGeom>
          <a:solidFill>
            <a:srgbClr val="F2994A"/>
          </a:solidFill>
          <a:ln/>
        </p:spPr>
      </p:sp>
      <p:sp>
        <p:nvSpPr>
          <p:cNvPr id="40" name="Shape 36"/>
          <p:cNvSpPr/>
          <p:nvPr/>
        </p:nvSpPr>
        <p:spPr>
          <a:xfrm>
            <a:off x="1783080" y="5074920"/>
            <a:ext cx="3840480" cy="1234440"/>
          </a:xfrm>
          <a:prstGeom prst="roundRect">
            <a:avLst>
              <a:gd name="adj" fmla="val 7407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965960" y="5257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2" name="Image 2" descr="/home/claude/ppt/icon_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5367528"/>
            <a:ext cx="283464" cy="283464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2606040" y="523951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interview_prep.db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2606040" y="55321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state, scores, cross-session learner memory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5989320" y="5074920"/>
            <a:ext cx="3840480" cy="1234440"/>
          </a:xfrm>
          <a:prstGeom prst="roundRect">
            <a:avLst>
              <a:gd name="adj" fmla="val 7407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172200" y="525780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47" name="Image 3" descr="/home/claude/ppt/icon_lay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5367528"/>
            <a:ext cx="283464" cy="283464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812280" y="523951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— chroma_store/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6812280" y="55321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of question bundles for RAG retrieval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10104120" y="1417320"/>
            <a:ext cx="1783080" cy="4892040"/>
          </a:xfrm>
          <a:prstGeom prst="roundRect">
            <a:avLst>
              <a:gd name="adj" fmla="val 5128"/>
            </a:avLst>
          </a:prstGeom>
          <a:solidFill>
            <a:srgbClr val="141A24"/>
          </a:solidFill>
          <a:ln w="15875">
            <a:solidFill>
              <a:srgbClr val="F2994A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10268712" y="161848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52" name="Image 4" descr="/home/claude/ppt/icon_cha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296" y="1719072"/>
            <a:ext cx="256032" cy="256032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10268712" y="2148840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250" dirty="0"/>
          </a:p>
        </p:txBody>
      </p:sp>
      <p:sp>
        <p:nvSpPr>
          <p:cNvPr id="54" name="Text 47"/>
          <p:cNvSpPr/>
          <p:nvPr/>
        </p:nvSpPr>
        <p:spPr>
          <a:xfrm>
            <a:off x="10268712" y="2404872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50" dirty="0"/>
          </a:p>
        </p:txBody>
      </p:sp>
      <p:sp>
        <p:nvSpPr>
          <p:cNvPr id="55" name="Shape 48"/>
          <p:cNvSpPr/>
          <p:nvPr/>
        </p:nvSpPr>
        <p:spPr>
          <a:xfrm>
            <a:off x="10268712" y="2834640"/>
            <a:ext cx="1453896" cy="502920"/>
          </a:xfrm>
          <a:prstGeom prst="roundRect">
            <a:avLst>
              <a:gd name="adj" fmla="val 12727"/>
            </a:avLst>
          </a:prstGeom>
          <a:solidFill>
            <a:srgbClr val="1C2430"/>
          </a:solidFill>
          <a:ln/>
        </p:spPr>
      </p:sp>
      <p:sp>
        <p:nvSpPr>
          <p:cNvPr id="56" name="Text 49"/>
          <p:cNvSpPr/>
          <p:nvPr/>
        </p:nvSpPr>
        <p:spPr>
          <a:xfrm>
            <a:off x="10378440" y="28346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+ token cost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10268712" y="3429000"/>
            <a:ext cx="1453896" cy="502920"/>
          </a:xfrm>
          <a:prstGeom prst="roundRect">
            <a:avLst>
              <a:gd name="adj" fmla="val 12727"/>
            </a:avLst>
          </a:prstGeom>
          <a:solidFill>
            <a:srgbClr val="1C2430"/>
          </a:solidFill>
          <a:ln/>
        </p:spPr>
      </p:sp>
      <p:sp>
        <p:nvSpPr>
          <p:cNvPr id="58" name="Text 51"/>
          <p:cNvSpPr/>
          <p:nvPr/>
        </p:nvSpPr>
        <p:spPr>
          <a:xfrm>
            <a:off x="10378440" y="34290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Grader + RAG evals</a:t>
            </a:r>
            <a:endParaRPr lang="en-US" sz="900" dirty="0"/>
          </a:p>
        </p:txBody>
      </p:sp>
      <p:sp>
        <p:nvSpPr>
          <p:cNvPr id="59" name="Text 52"/>
          <p:cNvSpPr/>
          <p:nvPr/>
        </p:nvSpPr>
        <p:spPr>
          <a:xfrm>
            <a:off x="10268712" y="411480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i="1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grading call &amp; RAG retrieval traced, tagged with learner, track, stage &amp; difficulty.</a:t>
            </a:r>
            <a:endParaRPr lang="en-US" sz="850" dirty="0"/>
          </a:p>
        </p:txBody>
      </p:sp>
      <p:sp>
        <p:nvSpPr>
          <p:cNvPr id="60" name="Shape 53"/>
          <p:cNvSpPr/>
          <p:nvPr/>
        </p:nvSpPr>
        <p:spPr>
          <a:xfrm>
            <a:off x="10268712" y="5532120"/>
            <a:ext cx="1453896" cy="594360"/>
          </a:xfrm>
          <a:prstGeom prst="roundRect">
            <a:avLst>
              <a:gd name="adj" fmla="val 10769"/>
            </a:avLst>
          </a:prstGeom>
          <a:solidFill>
            <a:srgbClr val="3A2A18"/>
          </a:solidFill>
          <a:ln w="9525">
            <a:solidFill>
              <a:srgbClr val="F2994A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10360152" y="5532120"/>
            <a:ext cx="1271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D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&amp; regression-tested</a:t>
            </a:r>
            <a:endParaRPr lang="en-US" sz="850" dirty="0"/>
          </a:p>
        </p:txBody>
      </p:sp>
      <p:sp>
        <p:nvSpPr>
          <p:cNvPr id="62" name="Shape 55"/>
          <p:cNvSpPr/>
          <p:nvPr/>
        </p:nvSpPr>
        <p:spPr>
          <a:xfrm>
            <a:off x="9857232" y="3703320"/>
            <a:ext cx="219456" cy="146304"/>
          </a:xfrm>
          <a:prstGeom prst="rightArrow">
            <a:avLst/>
          </a:prstGeom>
          <a:solidFill>
            <a:srgbClr val="F2994A"/>
          </a:solidFill>
          <a:ln/>
        </p:spPr>
      </p:sp>
      <p:sp>
        <p:nvSpPr>
          <p:cNvPr id="63" name="Text 5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Interview Prep Bot</a:t>
            </a:r>
            <a:endParaRPr lang="en-US" sz="1000" dirty="0"/>
          </a:p>
        </p:txBody>
      </p:sp>
      <p:sp>
        <p:nvSpPr>
          <p:cNvPr id="64" name="Text 57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One Answer Turn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submitted answer runs this exact sequence through the architecture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ppt/icon_dashbo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7872" y="167335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221992"/>
            <a:ext cx="3145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2606040"/>
            <a:ext cx="31455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submits an answer; the UI POSTs it to /api/interviews/{id}/answer.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24528" y="2395728"/>
            <a:ext cx="192024" cy="146304"/>
          </a:xfrm>
          <a:prstGeom prst="rightArrow">
            <a:avLst/>
          </a:prstGeom>
          <a:solidFill>
            <a:srgbClr val="F2994A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132588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90872" y="15819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4690872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0" y="155448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ppt/icon_sca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167335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90872" y="2221992"/>
            <a:ext cx="3145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690872" y="2606040"/>
            <a:ext cx="31455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invokes the evaluator: the answer is scored against the reference answer and weighted rubric.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10728" y="2395728"/>
            <a:ext cx="192024" cy="146304"/>
          </a:xfrm>
          <a:prstGeom prst="rightArrow">
            <a:avLst/>
          </a:prstGeom>
          <a:solidFill>
            <a:srgbClr val="F2994A"/>
          </a:solidFill>
          <a:ln/>
        </p:spPr>
      </p:sp>
      <p:sp>
        <p:nvSpPr>
          <p:cNvPr id="20" name="Shape 16"/>
          <p:cNvSpPr/>
          <p:nvPr/>
        </p:nvSpPr>
        <p:spPr>
          <a:xfrm>
            <a:off x="8321040" y="132588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577072" y="15819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8"/>
          <p:cNvSpPr/>
          <p:nvPr/>
        </p:nvSpPr>
        <p:spPr>
          <a:xfrm>
            <a:off x="8577072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11201400" y="155448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/home/claude/ppt/icon_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1673352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577072" y="2221992"/>
            <a:ext cx="3145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577072" y="2606040"/>
            <a:ext cx="31455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feedback, and covered/missing concepts are written to SQLite for this session.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384048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04672" y="4096512"/>
            <a:ext cx="457200" cy="457200"/>
          </a:xfrm>
          <a:prstGeom prst="ellipse">
            <a:avLst/>
          </a:prstGeom>
          <a:solidFill>
            <a:srgbClr val="1C2430"/>
          </a:solidFill>
          <a:ln/>
        </p:spPr>
      </p:sp>
      <p:sp>
        <p:nvSpPr>
          <p:cNvPr id="29" name="Text 24"/>
          <p:cNvSpPr/>
          <p:nvPr/>
        </p:nvSpPr>
        <p:spPr>
          <a:xfrm>
            <a:off x="804672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3429000" y="406908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/home/claude/ppt/icon_bo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4187952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04672" y="4736592"/>
            <a:ext cx="3145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804672" y="5120640"/>
            <a:ext cx="31455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difficulty and topic-weakness signals update — strong answers raise difficulty, weak ones hold it.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224528" y="4910328"/>
            <a:ext cx="192024" cy="146304"/>
          </a:xfrm>
          <a:prstGeom prst="rightArrow">
            <a:avLst/>
          </a:prstGeom>
          <a:solidFill>
            <a:srgbClr val="F2994A"/>
          </a:solidFill>
          <a:ln/>
        </p:spPr>
      </p:sp>
      <p:sp>
        <p:nvSpPr>
          <p:cNvPr id="35" name="Shape 29"/>
          <p:cNvSpPr/>
          <p:nvPr/>
        </p:nvSpPr>
        <p:spPr>
          <a:xfrm>
            <a:off x="4434840" y="384048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690872" y="4096512"/>
            <a:ext cx="457200" cy="457200"/>
          </a:xfrm>
          <a:prstGeom prst="ellipse">
            <a:avLst/>
          </a:prstGeom>
          <a:solidFill>
            <a:srgbClr val="1C2430"/>
          </a:solidFill>
          <a:ln/>
        </p:spPr>
      </p:sp>
      <p:sp>
        <p:nvSpPr>
          <p:cNvPr id="37" name="Text 31"/>
          <p:cNvSpPr/>
          <p:nvPr/>
        </p:nvSpPr>
        <p:spPr>
          <a:xfrm>
            <a:off x="4690872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Shape 32"/>
          <p:cNvSpPr/>
          <p:nvPr/>
        </p:nvSpPr>
        <p:spPr>
          <a:xfrm>
            <a:off x="7315200" y="406908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9" name="Image 4" descr="/home/claude/ppt/icon_layer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4187952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690872" y="4736592"/>
            <a:ext cx="3145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600" dirty="0"/>
          </a:p>
        </p:txBody>
      </p:sp>
      <p:sp>
        <p:nvSpPr>
          <p:cNvPr id="41" name="Text 34"/>
          <p:cNvSpPr/>
          <p:nvPr/>
        </p:nvSpPr>
        <p:spPr>
          <a:xfrm>
            <a:off x="4690872" y="5120640"/>
            <a:ext cx="31455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is queried for the next question matching track, level, stage and weak topics.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8110728" y="4910328"/>
            <a:ext cx="192024" cy="146304"/>
          </a:xfrm>
          <a:prstGeom prst="rightArrow">
            <a:avLst/>
          </a:prstGeom>
          <a:solidFill>
            <a:srgbClr val="F2994A"/>
          </a:solidFill>
          <a:ln/>
        </p:spPr>
      </p:sp>
      <p:sp>
        <p:nvSpPr>
          <p:cNvPr id="43" name="Shape 36"/>
          <p:cNvSpPr/>
          <p:nvPr/>
        </p:nvSpPr>
        <p:spPr>
          <a:xfrm>
            <a:off x="8321040" y="384048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8577072" y="4096512"/>
            <a:ext cx="457200" cy="457200"/>
          </a:xfrm>
          <a:prstGeom prst="ellipse">
            <a:avLst/>
          </a:prstGeom>
          <a:solidFill>
            <a:srgbClr val="1C2430"/>
          </a:solidFill>
          <a:ln/>
        </p:spPr>
      </p:sp>
      <p:sp>
        <p:nvSpPr>
          <p:cNvPr id="45" name="Text 38"/>
          <p:cNvSpPr/>
          <p:nvPr/>
        </p:nvSpPr>
        <p:spPr>
          <a:xfrm>
            <a:off x="8577072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6" name="Shape 39"/>
          <p:cNvSpPr/>
          <p:nvPr/>
        </p:nvSpPr>
        <p:spPr>
          <a:xfrm>
            <a:off x="11201400" y="406908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7" name="Image 5" descr="/home/claude/ppt/icon_rout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0272" y="4187952"/>
            <a:ext cx="274320" cy="27432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8577072" y="4736592"/>
            <a:ext cx="3145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</a:t>
            </a:r>
            <a:endParaRPr lang="en-US" sz="1600" dirty="0"/>
          </a:p>
        </p:txBody>
      </p:sp>
      <p:sp>
        <p:nvSpPr>
          <p:cNvPr id="49" name="Text 41"/>
          <p:cNvSpPr/>
          <p:nvPr/>
        </p:nvSpPr>
        <p:spPr>
          <a:xfrm>
            <a:off x="8577072" y="5120640"/>
            <a:ext cx="31455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and next question return to the UI in one response.</a:t>
            </a:r>
            <a:endParaRPr lang="en-US" sz="1100" dirty="0"/>
          </a:p>
        </p:txBody>
      </p:sp>
      <p:sp>
        <p:nvSpPr>
          <p:cNvPr id="50" name="Text 4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Interview Prep Bot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Difficulty &amp; Topic Weakness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a score comes back — the logic behind the “Adapt” step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846320"/>
          </a:xfrm>
          <a:prstGeom prst="roundRect">
            <a:avLst>
              <a:gd name="adj" fmla="val 2264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/icon_gaug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647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Adaptation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377440"/>
            <a:ext cx="4800600" cy="640080"/>
          </a:xfrm>
          <a:prstGeom prst="roundRect">
            <a:avLst>
              <a:gd name="adj" fmla="val 11429"/>
            </a:avLst>
          </a:prstGeom>
          <a:solidFill>
            <a:srgbClr val="1C2430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37744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returns a 0–100 score against the weighted rubric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 rot="5400000">
            <a:off x="3140964" y="3063240"/>
            <a:ext cx="164592" cy="256032"/>
          </a:xfrm>
          <a:prstGeom prst="rightArrow">
            <a:avLst/>
          </a:prstGeom>
          <a:solidFill>
            <a:srgbClr val="94A0B4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31012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a rolling performance threshold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2960" y="3703320"/>
            <a:ext cx="2263140" cy="960120"/>
          </a:xfrm>
          <a:prstGeom prst="roundRect">
            <a:avLst>
              <a:gd name="adj" fmla="val 7619"/>
            </a:avLst>
          </a:prstGeom>
          <a:solidFill>
            <a:srgbClr val="173832"/>
          </a:solidFill>
          <a:ln w="12700">
            <a:solidFill>
              <a:srgbClr val="2FB8C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0120" y="38404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ppt/icon_trendU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922776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3813048"/>
            <a:ext cx="1257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threshold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60120" y="4233672"/>
            <a:ext cx="17145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steps up for the next question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360420" y="3703320"/>
            <a:ext cx="2263140" cy="960120"/>
          </a:xfrm>
          <a:prstGeom prst="roundRect">
            <a:avLst>
              <a:gd name="adj" fmla="val 7619"/>
            </a:avLst>
          </a:prstGeom>
          <a:solidFill>
            <a:srgbClr val="3A2A18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497580" y="3840480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9" name="Image 2" descr="/home/claude/ppt/icon_trendDow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876" y="3922776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54780" y="3813048"/>
            <a:ext cx="1531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threshold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3497580" y="4233672"/>
            <a:ext cx="19888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holds, or steps back down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22960" y="489204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question is drawn at the updated difficulty level, per learner and track.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309360" y="1371600"/>
            <a:ext cx="5349240" cy="4846320"/>
          </a:xfrm>
          <a:prstGeom prst="roundRect">
            <a:avLst>
              <a:gd name="adj" fmla="val 2264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83680" y="164592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5" name="Image 3" descr="/home/claude/ppt/icon_tag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1764792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69480" y="16916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Weakness Tracking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583680" y="2377440"/>
            <a:ext cx="384048" cy="384048"/>
          </a:xfrm>
          <a:prstGeom prst="ellipse">
            <a:avLst/>
          </a:prstGeom>
          <a:solidFill>
            <a:srgbClr val="1C2430"/>
          </a:solidFill>
          <a:ln/>
        </p:spPr>
      </p:sp>
      <p:sp>
        <p:nvSpPr>
          <p:cNvPr id="28" name="Text 22"/>
          <p:cNvSpPr/>
          <p:nvPr/>
        </p:nvSpPr>
        <p:spPr>
          <a:xfrm>
            <a:off x="6583680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B8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132320" y="233172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concepts from the rubric are logged for this specific answer.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583680" y="3246120"/>
            <a:ext cx="384048" cy="384048"/>
          </a:xfrm>
          <a:prstGeom prst="ellipse">
            <a:avLst/>
          </a:prstGeom>
          <a:solidFill>
            <a:srgbClr val="1C2430"/>
          </a:solidFill>
          <a:ln/>
        </p:spPr>
      </p:sp>
      <p:sp>
        <p:nvSpPr>
          <p:cNvPr id="31" name="Text 25"/>
          <p:cNvSpPr/>
          <p:nvPr/>
        </p:nvSpPr>
        <p:spPr>
          <a:xfrm>
            <a:off x="658368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B8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132320" y="320040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topic's weakness score updates in SQLite — persisted across sessions, not just this one.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583680" y="4114800"/>
            <a:ext cx="384048" cy="384048"/>
          </a:xfrm>
          <a:prstGeom prst="ellipse">
            <a:avLst/>
          </a:prstGeom>
          <a:solidFill>
            <a:srgbClr val="1C2430"/>
          </a:solidFill>
          <a:ln/>
        </p:spPr>
      </p:sp>
      <p:sp>
        <p:nvSpPr>
          <p:cNvPr id="34" name="Text 28"/>
          <p:cNvSpPr/>
          <p:nvPr/>
        </p:nvSpPr>
        <p:spPr>
          <a:xfrm>
            <a:off x="658368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B8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7132320" y="406908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ChromaDB query is biased toward weak topics; topics already mastered are deprioritized.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583680" y="502920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1C2430"/>
          </a:solidFill>
          <a:ln/>
        </p:spPr>
      </p:sp>
      <p:sp>
        <p:nvSpPr>
          <p:cNvPr id="37" name="Shape 31"/>
          <p:cNvSpPr/>
          <p:nvPr/>
        </p:nvSpPr>
        <p:spPr>
          <a:xfrm>
            <a:off x="6720840" y="515721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8" name="Image 4" descr="/home/claude/ppt/icon_targe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5248656"/>
            <a:ext cx="237744" cy="23774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269480" y="50292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each learner gets a genuinely personalized next question, not just a harder or easier one.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Interview Prep Bot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Trade-offs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chose, what we passed on, and why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/icon_sca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716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over Flask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92040" y="138988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4892040" y="13898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FastAPI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892040" y="1801368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1C2430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18013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Flask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229600" y="1371600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async I/O for concurrent LLM/embedding calls, Pydantic validation, and auto-generated OpenAPI docs — Flask needs extra libraries to match these.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2304288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251460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/home/claude/ppt/icon_sca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2432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17320" y="23774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embeddings (MiniLM + Chroma) over TF-IDF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892040" y="239572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8" name="Text 14"/>
          <p:cNvSpPr/>
          <p:nvPr/>
        </p:nvSpPr>
        <p:spPr>
          <a:xfrm>
            <a:off x="4892040" y="23957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Sentence-Transformer + ChromaDB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892040" y="2807208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1C2430"/>
          </a:solidFill>
          <a:ln/>
        </p:spPr>
      </p:sp>
      <p:sp>
        <p:nvSpPr>
          <p:cNvPr id="20" name="Text 16"/>
          <p:cNvSpPr/>
          <p:nvPr/>
        </p:nvSpPr>
        <p:spPr>
          <a:xfrm>
            <a:off x="4892040" y="28072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TF-IDF only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8229600" y="2377440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captures semantic similarity, not just keyword overlap, and runs offline at no API cost. TF-IDF stays as a safety-net fallback if the model can't load.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48640" y="3310128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352044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/home/claude/ppt/icon_sca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630168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17320" y="33832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rubric grading over rules-only scoring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892040" y="340156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7" name="Text 22"/>
          <p:cNvSpPr/>
          <p:nvPr/>
        </p:nvSpPr>
        <p:spPr>
          <a:xfrm>
            <a:off x="4892040" y="34015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OpenRouter (gpt-4o-mini)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892040" y="3813048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1C2430"/>
          </a:solidFill>
          <a:ln/>
        </p:spPr>
      </p:sp>
      <p:sp>
        <p:nvSpPr>
          <p:cNvPr id="29" name="Text 24"/>
          <p:cNvSpPr/>
          <p:nvPr/>
        </p:nvSpPr>
        <p:spPr>
          <a:xfrm>
            <a:off x="4892040" y="3813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Deterministic rubric scorer only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8229600" y="3383280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grader reads nuance a keyword rubric can't. The local scorer remains an automatic fallback if no API key is set or the call fails.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48640" y="4315968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31520" y="452628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3" descr="/home/claude/ppt/icon_sca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636008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417320" y="43891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LangGraph StateGraph over ad-hoc control flow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892040" y="44074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6" name="Text 30"/>
          <p:cNvSpPr/>
          <p:nvPr/>
        </p:nvSpPr>
        <p:spPr>
          <a:xfrm>
            <a:off x="4892040" y="440740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LangGraph StateGraph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4892040" y="4818888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1C2430"/>
          </a:solidFill>
          <a:ln/>
        </p:spPr>
      </p:sp>
      <p:sp>
        <p:nvSpPr>
          <p:cNvPr id="38" name="Text 32"/>
          <p:cNvSpPr/>
          <p:nvPr/>
        </p:nvSpPr>
        <p:spPr>
          <a:xfrm>
            <a:off x="4892040" y="48188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Plain if/else stage logic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8229600" y="4389120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warmup → technical → case → behavioral → report as literal graph structure instead of duplicated index arithmetic — easier to audit and extend.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548640" y="5321808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31520" y="553212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2" name="Image 4" descr="/home/claude/ppt/icon_sca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641848"/>
            <a:ext cx="274320" cy="27432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417320" y="53949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LangSmith tracing over ad-hoc logging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4892040" y="541324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5" name="Text 38"/>
          <p:cNvSpPr/>
          <p:nvPr/>
        </p:nvSpPr>
        <p:spPr>
          <a:xfrm>
            <a:off x="4892040" y="541324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LangSmith (traceable + wrap_openai)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4892040" y="5824728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1C2430"/>
          </a:solidFill>
          <a:ln/>
        </p:spPr>
      </p:sp>
      <p:sp>
        <p:nvSpPr>
          <p:cNvPr id="47" name="Text 40"/>
          <p:cNvSpPr/>
          <p:nvPr/>
        </p:nvSpPr>
        <p:spPr>
          <a:xfrm>
            <a:off x="4892040" y="58247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Print / log statements only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8229600" y="5394960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full hierarchical trace trees, per-call token/cost, and ships ready-made eval datasets for regression testing — a custom logger would mean building all of that from scratch.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Interview Prep Bot</a:t>
            </a:r>
            <a:endParaRPr lang="en-US" sz="1000" dirty="0"/>
          </a:p>
        </p:txBody>
      </p:sp>
      <p:sp>
        <p:nvSpPr>
          <p:cNvPr id="50" name="Text 43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behind each layer of the architecture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9105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/icon_bo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099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24028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78892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API layer serving all endpoints.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7560" y="13716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38728" y="1591056"/>
            <a:ext cx="512064" cy="512064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1" name="Image 1" descr="/home/claude/ppt/icon_node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70992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24028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38728" y="278892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 orchestrating each interview stage.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3716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27648" y="159105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ppt/icon_lay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0992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224028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27648" y="278892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powering RAG question retrieval.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15400" y="13716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16568" y="1591056"/>
            <a:ext cx="512064" cy="512064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1" name="Image 3" descr="/home/claude/ppt/icon_brai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170992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6568" y="224028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Sentence-Transformers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16568" y="278892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MiniLM embeddings for semantic matching.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1943100" y="37490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144268" y="396849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ppt/icon_databas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3140" y="408736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144268" y="461772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2144268" y="516636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persistence &amp; cross-session memory.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732020" y="37490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933188" y="3968496"/>
            <a:ext cx="512064" cy="512064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31" name="Image 5" descr="/home/claude/ppt/icon_robo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408736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933188" y="461772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OpenRouter · GPT-4o-mini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933188" y="516636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rubric grading, with a local fallback.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7520940" y="37490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4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722108" y="396849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/home/claude/ppt/icon_chart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0980" y="4087368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722108" y="461772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LangSmith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7722108" y="516636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tracing, token cost, and automated evals.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Interview Prep Bot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669280" cy="5669280"/>
          </a:xfrm>
          <a:prstGeom prst="ellipse">
            <a:avLst/>
          </a:prstGeom>
          <a:solidFill>
            <a:srgbClr val="1C243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248656" y="13716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/icon_handshak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139" y="15800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5146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Interview Prep Bot  ·  Mini Capstone — Agentic AI &amp; RAG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2026-08-25T00:42:20Z</dcterms:created>
  <dcterms:modified xsi:type="dcterms:W3CDTF">2026-08-25T00:42:20Z</dcterms:modified>
</cp:coreProperties>
</file>